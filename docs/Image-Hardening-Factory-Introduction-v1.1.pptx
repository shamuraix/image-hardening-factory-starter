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a1cb6577682246d6" Type="http://schemas.openxmlformats.org/officeDocument/2006/relationships/extended-properties" Target="docProps/app.xml"/><Relationship Id="Rcdaf08e95b2a4c26" Type="http://schemas.openxmlformats.org/officeDocument/2006/relationships/officeDocument" Target="ppt/presentation.xml"/><Relationship Id="Rd8a740d9a2ef4065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c06a351efd4b1f"/>
  </p:sldMasterIdLst>
  <p:notesMasterIdLst>
    <p:notesMasterId xmlns:r="http://schemas.openxmlformats.org/officeDocument/2006/relationships" r:id="R6e16e6fb8ca54b52"/>
  </p:notesMasterIdLst>
  <p:sldIdLst>
    <p:sldId xmlns:r="http://schemas.openxmlformats.org/officeDocument/2006/relationships" id="256" r:id="R3a1a510f516d45d7"/>
    <p:sldId xmlns:r="http://schemas.openxmlformats.org/officeDocument/2006/relationships" id="257" r:id="R1a4919c71df340dc"/>
    <p:sldId xmlns:r="http://schemas.openxmlformats.org/officeDocument/2006/relationships" id="258" r:id="Rbeda57329f8d4a48"/>
    <p:sldId xmlns:r="http://schemas.openxmlformats.org/officeDocument/2006/relationships" id="259" r:id="R1575cac324ff41e8"/>
    <p:sldId xmlns:r="http://schemas.openxmlformats.org/officeDocument/2006/relationships" id="260" r:id="R0f9b3c4bbd514963"/>
    <p:sldId xmlns:r="http://schemas.openxmlformats.org/officeDocument/2006/relationships" id="261" r:id="R3acfdcdc5e804931"/>
    <p:sldId xmlns:r="http://schemas.openxmlformats.org/officeDocument/2006/relationships" id="262" r:id="Rd70d8d844e734115"/>
    <p:sldId xmlns:r="http://schemas.openxmlformats.org/officeDocument/2006/relationships" id="263" r:id="R841fe9c25d934dfe"/>
    <p:sldId xmlns:r="http://schemas.openxmlformats.org/officeDocument/2006/relationships" id="264" r:id="Rb08e50ffe960429f"/>
    <p:sldId xmlns:r="http://schemas.openxmlformats.org/officeDocument/2006/relationships" id="265" r:id="Rc5f4f7bc8daa4a9e"/>
    <p:sldId xmlns:r="http://schemas.openxmlformats.org/officeDocument/2006/relationships" id="266" r:id="R88b11e78f2724f55"/>
    <p:sldId xmlns:r="http://schemas.openxmlformats.org/officeDocument/2006/relationships" id="267" r:id="R2e218e6ffb2749f1"/>
    <p:sldId xmlns:r="http://schemas.openxmlformats.org/officeDocument/2006/relationships" id="268" r:id="R1c5ef4aade8743cf"/>
    <p:sldId xmlns:r="http://schemas.openxmlformats.org/officeDocument/2006/relationships" id="269" r:id="Rf674f3c5046a44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f9b3c4bbd514963" Type="http://schemas.openxmlformats.org/officeDocument/2006/relationships/slide" Target="slides/slide5.xml"/><Relationship Id="R1575cac324ff41e8" Type="http://schemas.openxmlformats.org/officeDocument/2006/relationships/slide" Target="slides/slide4.xml"/><Relationship Id="R1a4919c71df340dc" Type="http://schemas.openxmlformats.org/officeDocument/2006/relationships/slide" Target="slides/slide2.xml"/><Relationship Id="R1c5ef4aade8743cf" Type="http://schemas.openxmlformats.org/officeDocument/2006/relationships/slide" Target="slides/slide13.xml"/><Relationship Id="R2e218e6ffb2749f1" Type="http://schemas.openxmlformats.org/officeDocument/2006/relationships/slide" Target="slides/slide12.xml"/><Relationship Id="R3a1a510f516d45d7" Type="http://schemas.openxmlformats.org/officeDocument/2006/relationships/slide" Target="slides/slide1.xml"/><Relationship Id="R3acfdcdc5e804931" Type="http://schemas.openxmlformats.org/officeDocument/2006/relationships/slide" Target="slides/slide6.xml"/><Relationship Id="R6e16e6fb8ca54b52" Type="http://schemas.openxmlformats.org/officeDocument/2006/relationships/notesMaster" Target="notesMasters/notesMaster1.xml"/><Relationship Id="R841fe9c25d934dfe" Type="http://schemas.openxmlformats.org/officeDocument/2006/relationships/slide" Target="slides/slide8.xml"/><Relationship Id="R88b11e78f2724f55" Type="http://schemas.openxmlformats.org/officeDocument/2006/relationships/slide" Target="slides/slide11.xml"/><Relationship Id="R9b06e46bff8349a9" Type="http://schemas.openxmlformats.org/officeDocument/2006/relationships/presProps" Target="presProps.xml"/><Relationship Id="Rb08e50ffe960429f" Type="http://schemas.openxmlformats.org/officeDocument/2006/relationships/slide" Target="slides/slide9.xml"/><Relationship Id="Rb2516a5c46064ef6" Type="http://schemas.openxmlformats.org/officeDocument/2006/relationships/theme" Target="theme/theme1.xml"/><Relationship Id="Rbeda57329f8d4a48" Type="http://schemas.openxmlformats.org/officeDocument/2006/relationships/slide" Target="slides/slide3.xml"/><Relationship Id="Rc5f4f7bc8daa4a9e" Type="http://schemas.openxmlformats.org/officeDocument/2006/relationships/slide" Target="slides/slide10.xml"/><Relationship Id="Rd60c938c8e7b491d" Type="http://schemas.openxmlformats.org/officeDocument/2006/relationships/tableStyles" Target="tableStyles.xml"/><Relationship Id="Rd70d8d844e734115" Type="http://schemas.openxmlformats.org/officeDocument/2006/relationships/slide" Target="slides/slide7.xml"/><Relationship Id="Rdbc06a351efd4b1f" Type="http://schemas.openxmlformats.org/officeDocument/2006/relationships/slideMaster" Target="slideMasters/slideMaster1.xml"/><Relationship Id="Rf674f3c5046a44bc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3e0d28153a8b48f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4a59b990bcc494d" Type="http://schemas.openxmlformats.org/officeDocument/2006/relationships/slide" Target="../slides/slide1.xml"/><Relationship Id="Red9af20a5c9e411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c2ad31dad7c47fd" Type="http://schemas.openxmlformats.org/officeDocument/2006/relationships/slide" Target="../slides/slide2.xml"/><Relationship Id="R4e761a0298c94a2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3fa16bc94b02453c" Type="http://schemas.openxmlformats.org/officeDocument/2006/relationships/notesMaster" Target="../notesMasters/notesMaster1.xml"/><Relationship Id="R525dfc6a661b463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a6f4797b65bc4836" Type="http://schemas.openxmlformats.org/officeDocument/2006/relationships/slide" Target="../slides/slide4.xml"/><Relationship Id="Rd07dfb058d684474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43138bdaec1482f" Type="http://schemas.openxmlformats.org/officeDocument/2006/relationships/notesMaster" Target="../notesMasters/notesMaster1.xml"/><Relationship Id="R3504d28187fd4ebd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c3f9a583fe234116" Type="http://schemas.openxmlformats.org/officeDocument/2006/relationships/slide" Target="../slides/slide6.xml"/><Relationship Id="Rf060ddda946d471b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082c93a428f7415b" Type="http://schemas.openxmlformats.org/officeDocument/2006/relationships/slide" Target="../slides/slide7.xml"/><Relationship Id="R704114b59ed2460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59d56d2439b41eb" Type="http://schemas.openxmlformats.org/officeDocument/2006/relationships/slide" Target="../slides/slide8.xml"/><Relationship Id="R12a675d6225b42ec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0253b9699e454fcc" Type="http://schemas.openxmlformats.org/officeDocument/2006/relationships/notesMaster" Target="../notesMasters/notesMaster1.xml"/><Relationship Id="Rf40dbad634b94cac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a5a05dc00964563" Type="http://schemas.openxmlformats.org/officeDocument/2006/relationships/notesMaster" Target="../notesMasters/notesMaster1.xml"/><Relationship Id="Re0ccdc08da6543ca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d5322b64b25c41a2" Type="http://schemas.openxmlformats.org/officeDocument/2006/relationships/notesMaster" Target="../notesMasters/notesMaster1.xml"/><Relationship Id="Rd94133d5d29e4460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bff9cda988b481f" Type="http://schemas.openxmlformats.org/officeDocument/2006/relationships/notesMaster" Target="../notesMasters/notesMaster1.xml"/><Relationship Id="Rd2cee0f0e0c0403e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b1b1d42823f4c4a" Type="http://schemas.openxmlformats.org/officeDocument/2006/relationships/slide" Target="../slides/slide13.xml"/><Relationship Id="R8bcdfbe830fc4eb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46b8b97d4f564f98" Type="http://schemas.openxmlformats.org/officeDocument/2006/relationships/notesMaster" Target="../notesMasters/notesMaster1.xml"/><Relationship Id="R8182d21d6cd24c69" Type="http://schemas.openxmlformats.org/officeDocument/2006/relationships/slide" Target="../slides/slide1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outcome: a repeatable release service, not a one-time container build.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image-hardening-factory/README.md</a:t>
            </a:r>
          </a:p>
          <a:p xmlns:a="http://schemas.openxmlformats.org/drawingml/2006/main">
            <a:r>
              <a:t>- image-hardening-factory/IMPLEMENTATION_PLAN.md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dependency internalization and release authority separation are the two foundational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image-hardening-factory/README.md</a:t>
            </a:r>
          </a:p>
          <a:p xmlns:a="http://schemas.openxmlformats.org/drawingml/2006/main">
            <a:r>
              <a:t>- image-hardening-factory/docs/evidence-model.md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UBI 9.8 is the active base for all three Atlassian products. UBI 10.2 is deliberately isolated as a canary.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image-hardening-factory/IMPLEMENTATION_PLAN.md</a:t>
            </a:r>
          </a:p>
          <a:p xmlns:a="http://schemas.openxmlformats.org/drawingml/2006/main">
            <a:r>
              <a:t>- image-hardening-factory/catalog/images/ubi9-minimal.yaml</a:t>
            </a:r>
          </a:p>
          <a:p xmlns:a="http://schemas.openxmlformats.org/drawingml/2006/main">
            <a:r>
              <a:t>- image-hardening-factory/catalog/images/ubi10-minimal.yaml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principles as the review lens for every implementation decision and exception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image-hardening-factory/README.md</a:t>
            </a:r>
          </a:p>
          <a:p xmlns:a="http://schemas.openxmlformats.org/drawingml/2006/main">
            <a:r>
              <a:t>- image-hardening-factory/docs/evidence-model.md</a:t>
            </a:r>
          </a:p>
          <a:p xmlns:a="http://schemas.openxmlformats.org/drawingml/2006/main">
            <a:r>
              <a:t>- image-hardening-factory/SECURITY.md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protected FCS runner is isolated from both internal build runners and release credentials.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image-hardening-factory/README.md</a:t>
            </a:r>
          </a:p>
          <a:p xmlns:a="http://schemas.openxmlformats.org/drawingml/2006/main">
            <a:r>
              <a:t>- image-hardening-factory/docs/operations.md</a:t>
            </a:r>
          </a:p>
          <a:p xmlns:a="http://schemas.openxmlformats.org/drawingml/2006/main">
            <a:r>
              <a:t>- image-hardening-factory/IMPLEMENTATION_PLAN.md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seven-stage flow. Point out that evidence is always evaluated against the same subject digest.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image-hardening-factory/docs/evidence-model.md</a:t>
            </a:r>
          </a:p>
          <a:p xmlns:a="http://schemas.openxmlformats.org/drawingml/2006/main">
            <a:r>
              <a:t>- image-hardening-factory/docs/operations.md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two examples: a UBI patch should fan out to all production-lineage images; a Jira overlay patch should not rebuild Bitbucket or Confluence.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image-hardening-factory/IMPLEMENTATION_PLAN.md</a:t>
            </a:r>
          </a:p>
          <a:p xmlns:a="http://schemas.openxmlformats.org/drawingml/2006/main">
            <a:r>
              <a:t>- image-hardening-factory/factory/pipeline.py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evidence graph and fail-closed behavior. The 72-hour value exists in the catalog but is not enforced by current Rego; present it as roadmap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image-hardening-factory/docs/evidence-model.md</a:t>
            </a:r>
          </a:p>
          <a:p xmlns:a="http://schemas.openxmlformats.org/drawingml/2006/main">
            <a:r>
              <a:t>- image-hardening-factory/policies/rego/factory/release/release.rego</a:t>
            </a:r>
          </a:p>
          <a:p xmlns:a="http://schemas.openxmlformats.org/drawingml/2006/main">
            <a:r>
              <a:t>- image-hardening-factory/catalog/images/*.yaml and policies/rego/factory/release/release.rego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Distinguish signing from approval and promotion. For Gov1/Gov2, approvals and signing remain local to the protected environment.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image-hardening-factory/docs/operations.md</a:t>
            </a:r>
          </a:p>
          <a:p xmlns:a="http://schemas.openxmlformats.org/drawingml/2006/main">
            <a:r>
              <a:t>- image-hardening-factory/scripts/sign_and_attest.sh</a:t>
            </a:r>
          </a:p>
          <a:p xmlns:a="http://schemas.openxmlformats.org/drawingml/2006/main">
            <a:r>
              <a:t>- image-hardening-factory/scripts/promote_image.sh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AI component is an untrusted proposal generator. Deterministic resolvers, protected branches, clean rebuilds, and human review contain the risk.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image-hardening-factory/README.md</a:t>
            </a:r>
          </a:p>
          <a:p xmlns:a="http://schemas.openxmlformats.org/drawingml/2006/main">
            <a:r>
              <a:t>- image-hardening-factory/SECURITY.md</a:t>
            </a:r>
          </a:p>
          <a:p xmlns:a="http://schemas.openxmlformats.org/drawingml/2006/main">
            <a:r>
              <a:t>- image-hardening-factory/scripts/create_remediation_mr.sh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milestones as deployable work packages. UBI 10 canary can run in parallel once intake and core toolchain controls exist.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image-hardening-factory/IMPLEMENTATION_PLAN.md</a:t>
            </a:r>
          </a:p>
          <a:p xmlns:a="http://schemas.openxmlformats.org/drawingml/2006/main">
            <a:r>
              <a:t>- image-hardening-factory/docs/implementation-status.md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go-live list as a release readiness checklist. Do not enable Gov promotion until Commercial promotion and rollback have been exercised.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image-hardening-factory/docs/operations.md</a:t>
            </a:r>
          </a:p>
          <a:p xmlns:a="http://schemas.openxmlformats.org/drawingml/2006/main">
            <a:r>
              <a:t>- image-hardening-factory/IMPLEMENTATION_PLAN.md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Day 2 begins when the factory is a supported service. Call out the cadence and the P1 response: freeze promotion for key compromise, evidence mismatch, digest mutation, unauthorized promotion, or public egress.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image-hardening-factory/docs/operations.md</a:t>
            </a:r>
          </a:p>
          <a:p xmlns:a="http://schemas.openxmlformats.org/drawingml/2006/main">
            <a:r>
              <a:t>- Image-Hardening-Factory-Project-Bootstrap-Guide.docx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environment-binding work that remains. The starter repository is locally validated; production readiness depends on deployed infrastructure, certificates, credentials, policy ownership, and licensed product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image-hardening-factory/docs/implementation-status.md</a:t>
            </a:r>
          </a:p>
          <a:p xmlns:a="http://schemas.openxmlformats.org/drawingml/2006/main">
            <a:r>
              <a:t>- image-hardening-factory/IMPLEMENTATION_PLAN.md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67353589a72d487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aaf9f3e5c424a1f" Type="http://schemas.openxmlformats.org/officeDocument/2006/relationships/slideLayout" Target="../slideLayouts/slideLayout1.xml"/><Relationship Id="Rc225b5b5c4da45e9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af9f3e5c424a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85a3f010c5f4af2" Type="http://schemas.openxmlformats.org/officeDocument/2006/relationships/notesSlide" Target="../notesSlides/notesSlide1.xml"/><Relationship Id="Rc2e87c060e214027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b4c8f503a89a4f11" Type="http://schemas.openxmlformats.org/officeDocument/2006/relationships/notesSlide" Target="../notesSlides/notesSlide2.xml"/><Relationship Id="Ree905c728a15423f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6d9aa98fbe4b4e3f" Type="http://schemas.openxmlformats.org/officeDocument/2006/relationships/slideLayout" Target="../slideLayouts/slideLayout1.xml"/><Relationship Id="R8b77ce6a0372469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25adabe509fd4b31" Type="http://schemas.openxmlformats.org/officeDocument/2006/relationships/notesSlide" Target="../notesSlides/notesSlide4.xml"/><Relationship Id="R3ae21f15c04f46b7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0eba27d4bdd4b22" Type="http://schemas.openxmlformats.org/officeDocument/2006/relationships/notesSlide" Target="../notesSlides/notesSlide5.xml"/><Relationship Id="R767aad3a058b41d8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9c4d0157526c4c37" Type="http://schemas.openxmlformats.org/officeDocument/2006/relationships/slideLayout" Target="../slideLayouts/slideLayout1.xml"/><Relationship Id="Ra22babb0a729453d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0e352ded7e540f1" Type="http://schemas.openxmlformats.org/officeDocument/2006/relationships/slideLayout" Target="../slideLayouts/slideLayout1.xml"/><Relationship Id="Ra0d83f3e1ec24ab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79755d54935e492f" Type="http://schemas.openxmlformats.org/officeDocument/2006/relationships/slideLayout" Target="../slideLayouts/slideLayout1.xml"/><Relationship Id="Rbafd6426fc3c46d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2e507ede2b84716" Type="http://schemas.openxmlformats.org/officeDocument/2006/relationships/slideLayout" Target="../slideLayouts/slideLayout1.xml"/><Relationship Id="R498b96d0a3c54eba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333c41f6518a421b" Type="http://schemas.openxmlformats.org/officeDocument/2006/relationships/slideLayout" Target="../slideLayouts/slideLayout1.xml"/><Relationship Id="R6d66bfee9dd4468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6088b799e844527" Type="http://schemas.openxmlformats.org/officeDocument/2006/relationships/notesSlide" Target="../notesSlides/notesSlide11.xml"/><Relationship Id="Ra5605316765f420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edf0345d959042b2" Type="http://schemas.openxmlformats.org/officeDocument/2006/relationships/notesSlide" Target="../notesSlides/notesSlide12.xml"/><Relationship Id="Rfc05b7c6e2bd464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74635b85c41149d0" Type="http://schemas.openxmlformats.org/officeDocument/2006/relationships/slideLayout" Target="../slideLayouts/slideLayout1.xml"/><Relationship Id="Rdb444d950ca14e10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178895a3490449ba" Type="http://schemas.openxmlformats.org/officeDocument/2006/relationships/slideLayout" Target="../slideLayouts/slideLayout1.xml"/><Relationship Id="R6ef9d8f7d6b44bee" Type="http://schemas.openxmlformats.org/officeDocument/2006/relationships/notesSlide" Target="../notesSlides/notesSlide14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26579F-D74F-4998-8408-F86E444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E9F0D9-2E7A-471F-B9C6-E37BBB12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8BDF8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EF9AF4-9356-48DD-A32C-C5345DE6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334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Trusted, offline-capable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9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container image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043E5-DCFD-47BF-8B22-E789C2E1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D7E3EC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D7E3EC"/>
                </a:solidFill>
                <a:latin typeface="Arial"/>
                <a:ea typeface="Arial"/>
                <a:cs typeface="Arial"/>
              </a:rPr>
              <a:t>Project bootstrap introduction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58B6C-B2F6-4D0A-ABC6-684C2EA1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A65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1FDCC-316E-4D60-B369-6394DA41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3EE06-6BAA-4B4B-9CBB-3D75CE5C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UBI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3AD05-DC29-41C9-A462-654D0D998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C3EA7-E1C1-444C-8279-4CA84828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BITBUCKET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3F2E31-F835-46F4-9598-B5B14198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862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A92EE3-BEF8-4EFE-82C8-897C9021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CONFLUENCE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F0E944-85FA-405B-A7DE-C7DEA0B0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862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C4F4B-59B6-40E7-9A3F-D6B2F57C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4626B-8E41-4985-B1E6-62C2E4DA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86250"/>
            <a:ext cx="18097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C77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4F57C2-9E7D-4AC2-8D30-11959829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57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UBI 10 CANARY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8FE549-8123-496C-AADB-6E4EA164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D7E3E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7E3EC"/>
                </a:solidFill>
                <a:latin typeface="Arial"/>
                <a:ea typeface="Arial"/>
                <a:cs typeface="Arial"/>
              </a:rPr>
              <a:t>Internal Artifactory • Protected FCS assessment • Signed evidence • Digest-preserving promotion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B90E5-0582-415F-9640-57E1B6D3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AFC5D6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AFC5D6"/>
                </a:solidFill>
                <a:latin typeface="Arial"/>
                <a:ea typeface="Arial"/>
                <a:cs typeface="Arial"/>
              </a:rPr>
              <a:t>Version 1.1  |  14 August 2026</a:t>
            </a:r>
          </a:p>
        </p:txBody>
      </p:sp>
    </p:spTree>
    <p:extLst>
      <p:ext uri="{BB962C8B-B14F-4D97-AF65-F5344CB8AC3E}">
        <p14:creationId xmlns:p14="http://schemas.microsoft.com/office/powerpoint/2010/main" val="13102478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A361F-8135-4711-9C39-945F559E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7DD6E-E735-42F1-9C45-4F1353DB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PROJECT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670BC-FFD6-4E01-A397-32BE0968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B9A8A-2E29-498B-9D1F-5DC84484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2BE49-F663-4419-B8C6-8378599A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this factory exists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50BC0-BDB3-480F-BF19-FBA21AC2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Turn external image sources into internally controlled, evidence-backed releases.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F6DC9-08D7-4958-86AC-1FB29476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D7256-BCAC-4DE8-9CBD-EF54783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D3FCD-29BA-4BD0-898E-EA6506ED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14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CONTROL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C71AB-FAB1-4F1A-BB3D-125F89B4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Mirror approved source, OCI bases, RPM snapshots, offline scanner data, and toolchains into internal Artifactory.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16C655-AD67-4CEB-A7EE-5F8700BB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9621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6DA3B1-7560-411A-AFE8-DDC8EA34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860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83CB7-905C-4923-9BC2-036AF925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14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PROVE THE 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74E0B-34F6-4B3E-B1F9-2D3C5A4D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33375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Bind the candidate digest to SBOMs, provenance, compliance, tests, FCS status, policy decisions, and signatures.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D3003-54D5-4F98-818C-65C5E5BB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621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ED1326-4357-4089-8FCE-4800F904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106BC6-8A6F-43CC-B95F-1DDDCEEA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14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OPERATE REPEATFULLY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7C91CE-7971-4EB0-B6F0-F3DCAB52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33750"/>
            <a:ext cx="3143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Promote or roll back by digest; monitor FCS policy, evidence freshness, runner isolation, and support ownership.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BE4121-D0C5-46C0-BA26-4BBC8CE2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06680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8E33C-6D14-4021-BF5A-8CAA22FD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Design intent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D68CF-9D28-4C96-AA8D-ECE11A76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53402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1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build path has no public dependency and no authority to publish. Release is a separate, protected decision.</a:t>
            </a:r>
          </a:p>
        </p:txBody>
      </p:sp>
    </p:spTree>
    <p:extLst>
      <p:ext uri="{BB962C8B-B14F-4D97-AF65-F5344CB8AC3E}">
        <p14:creationId xmlns:p14="http://schemas.microsoft.com/office/powerpoint/2010/main" val="1303692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CC0BA-D167-41FA-A6F6-AF1ED0F3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EE2E3-6546-4D62-883A-6D297BC4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PROJECT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6DD52-69F1-4302-B309-0F58B30D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D3D99-0FFE-48CE-A393-13DFF5B5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6EF90-8D67-424B-AD71-477E92AB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Scope and release lineage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C8068-DBA6-4701-BF8F-AD63A4A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Five upstream repositories; one controlled dependency graph.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6A752-C083-44A1-BC5D-368B4F77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PRODUCTION LINEAGE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35A2D-3A4B-4F6F-984F-FCCC81B8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9527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CD0F7-B646-42FA-AE79-B2896692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UBI 9.8 minimal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11544B-8BFA-4B10-B2A5-4B71F47E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8864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8864B"/>
                </a:solidFill>
                <a:latin typeface="Arial"/>
                <a:ea typeface="Arial"/>
                <a:cs typeface="Arial"/>
              </a:rPr>
              <a:t>Hardened active 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BE4F7-117B-4437-AFA1-35A197CD1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33675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F116C8-A30B-48FB-A7C4-9FE712DF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66900"/>
            <a:ext cx="342900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AE4B9-7CC0-4910-A923-05556C6F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574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Bitbucket LTS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E25D6-9C72-46F9-95AB-C37B4BB5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Overlay + baseline runtime tests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DCDB6-55C8-4E04-B478-ADD4FA8F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42900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64D961-D59A-4175-B2A0-E8C26921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575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Confluence LTS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40C92-F379-4F8E-92AF-5A58E2E8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1950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Overlay + baseline runtime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A9C93-9CD8-431E-B152-6F9CA5C9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67200"/>
            <a:ext cx="3429000" cy="876300"/>
          </a:xfrm>
          <a:prstGeom xmlns:a="http://schemas.openxmlformats.org/drawingml/2006/main" prst="roundRect">
            <a:avLst>
              <a:gd name="adj" fmla="val 7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E48BD-DAFA-47C4-9F93-C1AF55A8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577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Jira LTS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313F1F-AC1F-446E-AB35-88E47760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8196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Overlay + baseline runtime tests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757FF1-04F2-4768-915C-48324F54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CANARY TRACK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CD79E2-51A6-4A22-9669-4536F7F1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33600"/>
            <a:ext cx="30289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19A7B4-D777-43D5-BDEC-6A956E1B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622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UBI 10.2 minimal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A85855-9F30-48B9-871C-858BD495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Compatibility evidence 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87FC3-43B7-4177-A399-1AF0CEAA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19500"/>
            <a:ext cx="30289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Cannot become production through a tag change. Migration requires an explicit dependency decision, architecture review, product validation, and approval.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55576-12CE-41CD-9495-5EAE95B2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562600"/>
            <a:ext cx="3429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AA705C-DA00-424F-9D6B-8C8BCEDE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10225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SAME APPROVED UBI DIGEST</a:t>
            </a:r>
          </a:p>
        </p:txBody>
      </p:sp>
    </p:spTree>
    <p:extLst>
      <p:ext uri="{BB962C8B-B14F-4D97-AF65-F5344CB8AC3E}">
        <p14:creationId xmlns:p14="http://schemas.microsoft.com/office/powerpoint/2010/main" val="14831260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3B1FDC-BAF6-4AAB-BC18-3FC0FD4B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C4935-1C86-4C39-99C1-E134347C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PROJECT INTRODUCTION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395B83-D66F-4B81-8540-F823D163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9287E-99AE-42F0-8657-3CA550A5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E1207-3CEE-4198-AD86-E5FA79EC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Six design principles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384345-B34A-4DCD-B5F4-20448F1E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Controls are expressed in workflow structure, not policy prose alone.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DA13B-C761-4932-8505-E024B75E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92F0D-4F8E-481C-BD6B-7A637194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09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Internal by default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C0A42-C7D3-4537-8B2D-3B5AE87C2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Build, tests, and offline scanners use internal data; only FCS has allowlisted Falcon egress.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942CC0-B54B-4495-A23F-00E6E9059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765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AD2B9-4BC0-4A99-A16A-8BD56D14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C0BC2-C480-45CE-BCD8-8C84536E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9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Digest is identity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3BB93-9EBF-4F4F-87F0-4BF04F2D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717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Tags are pointers; evidence and promotion bind to immutable OCI digests.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D4EB2F-4730-4457-B2FF-1DEF9EEF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765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66CD8F-C166-4262-A4DB-1DEB7562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ADCF0-E519-4819-B4AA-C50A25F1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is the 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36245-DB3E-4B7E-AAE4-0363A49EB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SBOM, provenance, tests, FCS, policy, signatures, and attestations bind to one subject.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84A3C1-3DE1-4609-A3B7-4E8DD167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57227B-DC2E-4E68-97C0-5D9836D5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69C0FC-18D4-4BBA-B775-50FD2BD2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432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Separate authorities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1A489-AD54-46AB-B3E0-CA84B928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052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Intake, build, import, sign, approve, and promote use distinct identities.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C08CFA-6120-48A8-8795-B2CAF126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100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0D165-C316-41E4-B3BB-E7AB8729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5CB6D5-790F-4D20-9BD4-368D6115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Fail closed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C874A8-4159-4B30-B4F3-5DE451D6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387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Invalid SBOM, compliance, tests, or FCS evidence denies release.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E018E3-62CF-4371-846B-7673D6C5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435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66923-2830-444D-8766-963C582C3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53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F39CC1-51D5-4B6C-9DF4-CA79944F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767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AI proposes only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A4F307-2DC7-44D3-B68B-86DB8D89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3870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AI may summarize or draft; humans and deterministic gates retain authority.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7A9F1-9173-493D-96E2-972FA0C5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4355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19990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D686A8E-DFF2-4791-8700-F4A64EE5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F6F22-BFED-4EC5-93D8-33A0BC67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1659F-F1A1-4014-86F4-9322AAF8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458C4-23A3-49A9-9859-8D30FF2D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BEF4F-E36B-4EF8-9A8D-3B050782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Architecture and trust zones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3F9F4-5FDB-4E78-8533-117C7F6A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Intake and FCS use separate allowlisted egress; build and release remain internal.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BDF6AF-CE6D-4D2A-97D8-F5C3D120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2381250" cy="342900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689E5-F691-431D-9C7A-5459A54A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CONNECTED INTAKE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7B77D-FA87-4182-B349-5A51BE7A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Allowlisted upstream access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0A3FE-4000-4D05-A6F7-BE8B4AC6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905000"/>
            <a:ext cx="2609850" cy="342900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FEB46-0568-4C7E-A859-5A89CA95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266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TRANSFER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2951C8-40C5-4AC1-8CA3-C9DB5366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19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Signed, checksum-addressed bundles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7E5888-1E49-43DA-ADBB-1302F6411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05000"/>
            <a:ext cx="2952750" cy="34290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205BC-33E5-4257-A56F-43245D70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INTERNAL FACTORY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38ECB-FDB5-4D08-AB1D-8453952B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19350"/>
            <a:ext cx="260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Build • test • offline scans •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02D3E-9AAD-4648-8433-83B764AA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05000"/>
            <a:ext cx="2438400" cy="34290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1A8D35-2B4B-4A03-BAA1-FA63E0DA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CONTROLLED FCS +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6C425C-A12C-4817-8497-E0516C94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FCS assess • import • sign • promote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C5C83-4D4E-49D4-8BA9-CF3B00B67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885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541B8-289A-46D4-A6B0-F7F8CD0E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337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Mirror + lock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E148D-849B-4022-BD64-5EE69C3C1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source • bases •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6AF0F-7B02-4DC0-A8A8-CABBB5FF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885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838176-E221-4B78-9819-DC754AED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337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Verify bundle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1689BA-A96B-4185-AEB3-FFD2248C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385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signature • checksum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937DD-2C96-4349-94E5-3BC60FE3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21145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DCC7F2-3DD8-470D-BEAF-215890A1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33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Ephemeral internal runners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EAB975-D9DD-466E-807D-6C9B3D46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6385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zero public egress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B1ED3F-2D00-461B-915C-61B2434D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143250"/>
            <a:ext cx="18859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88838E-D10B-40C7-BB07-2E8BB842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337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FCS + release jobs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0479EF-7FC1-4238-A569-D23B0B5C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63855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Falcon API • exact digest + closure</a:t>
            </a:r>
          </a:p>
        </p:txBody>
      </p:sp>
      <p:cxnSp>
        <p:nvCxnSpPr>
          <p:cNvPr id="66" name=""/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667000" y="35623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6D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22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410200" y="35623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6D"/>
            </a:solidFill>
            <a:prstDash val="solid"/>
            <a:tailEnd type="arrow" w="med" len="med"/>
          </a:ln>
        </p:spPr>
      </p:cxnSp>
      <p:cxnSp>
        <p:nvCxnSpPr>
          <p:cNvPr id="68" name=""/>
          <p:cNvCxnSpPr>
            <a:stCxn xmlns:a="http://schemas.openxmlformats.org/drawingml/2006/main" id="25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8553450" y="3562350"/>
            <a:ext cx="9429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6D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83635D-DB2A-439E-A951-9AE659A5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11125200" cy="495300"/>
          </a:xfrm>
          <a:prstGeom xmlns:a="http://schemas.openxmlformats.org/drawingml/2006/main" prst="roundRect">
            <a:avLst>
              <a:gd name="adj" fmla="val 961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38DE28-48B3-4198-B3B7-8E104391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Artifactory replaces build-time platform services. FCS is the isolated connected assessment; community scanners remain offline and informational.</a:t>
            </a:r>
          </a:p>
        </p:txBody>
      </p:sp>
    </p:spTree>
    <p:extLst>
      <p:ext uri="{BB962C8B-B14F-4D97-AF65-F5344CB8AC3E}">
        <p14:creationId xmlns:p14="http://schemas.microsoft.com/office/powerpoint/2010/main" val="7619415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37A847-9EA1-46D7-BE20-DA2C3603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A878B-33B7-4AD5-A70A-FD24607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A993D-9FA0-4030-A9ED-69ADA73C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3C6657-088B-4A1A-8FD1-3BFDB760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C742A-3C0F-42EE-B479-0A1C08DD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End-to-end process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1C551-825C-4799-BAEE-EADA61E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Each stage emits a digest-bound artifact consumed by the next gate.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52083-0A59-41FB-89EE-4D8D6FB9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71700"/>
            <a:ext cx="13525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753B6-E7BB-4570-A906-423953CC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86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8B922-6502-442F-ADC6-1B9A5DBC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INTAKE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B2F527-8BEE-4B36-A08B-2E28C3CB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Signed resource 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8E711-127D-4A7D-8F8F-B950F843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52850"/>
            <a:ext cx="13525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61393-86D8-4019-A7B5-8C7F976A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67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F98443-6C86-42C8-B0C8-C6EA4D75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52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TRANSFER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39A15-29E1-4B10-9832-1498B740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386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5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Verified offline bundle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F37F3-8AFF-4527-BF9D-B33A9FCB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13525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55E80-6C58-45A2-8470-820D20FA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86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7E27AE-61D6-4374-AB30-561C2F16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717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BUILD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0C274D-2050-473C-B96D-7D615D9A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OCI candidate digest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FFB8EB-42DF-40C6-BDC0-34E16C3F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52850"/>
            <a:ext cx="13525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BE2AC-48AD-4A22-B965-2811828C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67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EBF746-D34A-4F0D-8E7E-52895DAB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152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+ FCS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A2F23B-FDE5-46C3-8AAD-C595A0EC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386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7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Offline evidence + authoritative FCS status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92720-9635-4AD4-BF2E-97E5D0BB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71700"/>
            <a:ext cx="13525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26E854-6180-4B18-BFA7-9DC6CB7E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286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5A1DC-0714-421A-80D0-976087A4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D08AC-B541-4FDF-913F-8C7A6469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OPA allow / deny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BB592E-A114-4D52-80A2-F5F2655C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52850"/>
            <a:ext cx="13525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8258F6-F2D8-4C54-A217-09F5784B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671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4B556C-D19C-4D15-8E30-7122DEA3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52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SIGN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D02511-3617-4C07-8806-BB5E404D1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3865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Signature + attestations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9A66A1-1EAB-411B-9C87-499AD1C0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171700"/>
            <a:ext cx="1352550" cy="10668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6E6DB6-92AA-486C-A870-CFE72719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286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ED3496-4EF6-4AC6-B492-D6E87038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717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PROMOTE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9A7117-CD3B-4417-9412-495E8E4D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57500"/>
            <a:ext cx="112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Digest + referrer closure</a:t>
            </a:r>
          </a:p>
        </p:txBody>
      </p:sp>
      <p:cxnSp>
        <p:nvCxnSpPr>
          <p:cNvPr id="77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209675" y="3238500"/>
            <a:ext cx="16002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06D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11" idx="0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V="1">
            <a:off x="2809875" y="3238500"/>
            <a:ext cx="16002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06D"/>
            </a:solidFill>
            <a:prstDash val="solid"/>
            <a:tailEnd type="arrow" w="sm" len="sm"/>
          </a:ln>
        </p:spPr>
      </p:cxnSp>
      <p:cxnSp>
        <p:nvCxnSpPr>
          <p:cNvPr id="79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410075" y="3238500"/>
            <a:ext cx="16002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06D"/>
            </a:solidFill>
            <a:prstDash val="soli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19" idx="0"/>
            <a:endCxn xmlns:a="http://schemas.openxmlformats.org/drawingml/2006/main" id="23" idx="2"/>
          </p:cNvCxnSpPr>
          <p:nvPr/>
        </p:nvCxnSpPr>
        <p:spPr>
          <a:xfrm xmlns:a="http://schemas.openxmlformats.org/drawingml/2006/main" flipV="1">
            <a:off x="6010275" y="3238500"/>
            <a:ext cx="16002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06D"/>
            </a:solidFill>
            <a:prstDash val="soli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23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7610475" y="3238500"/>
            <a:ext cx="16002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06D"/>
            </a:solidFill>
            <a:prstDash val="soli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27" idx="0"/>
            <a:endCxn xmlns:a="http://schemas.openxmlformats.org/drawingml/2006/main" id="31" idx="2"/>
          </p:cNvCxnSpPr>
          <p:nvPr/>
        </p:nvCxnSpPr>
        <p:spPr>
          <a:xfrm xmlns:a="http://schemas.openxmlformats.org/drawingml/2006/main" flipV="1">
            <a:off x="9210675" y="3238500"/>
            <a:ext cx="1600200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06D"/>
            </a:solidFill>
            <a:prstDash val="solid"/>
            <a:tailEnd type="arrow" w="sm" len="sm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21D8C2-9789-47D8-9E92-4FEF4311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Release identity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905150-08C4-4D0E-AFF9-2BB698FA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721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subject digest never changes. Promotion moves the subject and its complete OCI referrer closure without mutation.</a:t>
            </a:r>
          </a:p>
        </p:txBody>
      </p:sp>
    </p:spTree>
    <p:extLst>
      <p:ext uri="{BB962C8B-B14F-4D97-AF65-F5344CB8AC3E}">
        <p14:creationId xmlns:p14="http://schemas.microsoft.com/office/powerpoint/2010/main" val="1169819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655B6D-1E9E-484B-B773-4B6694B3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173B0-997A-4917-B4BD-9D51C81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1EEAF0-17EA-4884-9857-DB7A4605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2C33F6-4B65-4FF2-86A0-FE580025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D9FDC1-541E-473A-A79E-C8475C99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Dependency-aware pipeline selection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71DA0-9311-4069-B027-219928F9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base change fans out; an application-only change remains isolated.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90AFA-EBD9-4DB6-96EB-8EA7E1EA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2800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342F3-724C-4488-AEFD-59B45261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34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UBI 9.8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06980-A20C-4E5A-B621-DC681973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343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Base digest + RPM snapshot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9E37E9-8C14-4865-8187-233D1965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52600"/>
            <a:ext cx="291465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E9AB07-86B4-4712-8AB7-CD75738A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9431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BITBUCKET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D9019-E6AB-4DF1-A8F2-58F85F91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050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Overlay • build • baseline test</a:t>
            </a:r>
          </a:p>
        </p:txBody>
      </p: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486150" y="2247900"/>
            <a:ext cx="1562100" cy="704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F8B8D"/>
            </a:solidFill>
            <a:prstDash val="solid"/>
            <a:tailEnd type="arrow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A5371-1AB5-44C6-A08C-83D429EF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90850"/>
            <a:ext cx="291465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97649-2584-43C5-AE70-B01A2533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8135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CONFLUENCE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66C24A-0F0F-469D-AFF6-39BA4F73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4330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Overlay • build • baseline test</a:t>
            </a:r>
          </a:p>
        </p:txBody>
      </p:sp>
      <p:cxnSp>
        <p:nvCxnSpPr>
          <p:cNvPr id="46" name=""/>
          <p:cNvCxnSpPr>
            <a:stCxn xmlns:a="http://schemas.openxmlformats.org/drawingml/2006/main" id="7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486150" y="2952750"/>
            <a:ext cx="1562100" cy="533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F8B8D"/>
            </a:solidFill>
            <a:prstDash val="solid"/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124BC-FA45-418F-9968-93B11C7A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29100"/>
            <a:ext cx="2914650" cy="990600"/>
          </a:xfrm>
          <a:prstGeom xmlns:a="http://schemas.openxmlformats.org/drawingml/2006/main" prst="roundRect">
            <a:avLst>
              <a:gd name="adj" fmla="val 67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02F756-27EF-4114-9EB6-AC8D6501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19600"/>
            <a:ext cx="2457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84E9DE-9573-49CC-8388-9E79D17B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81550"/>
            <a:ext cx="2457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Overlay • build • baseline test</a:t>
            </a:r>
          </a:p>
        </p:txBody>
      </p: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486150" y="2952750"/>
            <a:ext cx="1562100" cy="1771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0F8B8D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E65964-DDAA-4082-A094-D2B1BBE0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895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98E6F8-939C-4D80-936E-20852DD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383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UBI change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F36F2B-BB7C-4607-AA3B-E66D0D10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193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Select UBI + all three Atlassian pipelines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B1FC2-F3D7-44EC-9890-38AAF74E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895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52606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10E148-BC5E-41C0-8388-2B5CB588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Application change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D3C1E9-B423-46DD-9C90-4CF82BF5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43350"/>
            <a:ext cx="2438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Select only the changed application pipeline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76B114-265F-4A0E-A328-1BA0D90A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7823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9AD71A-7068-42FD-9C5D-A73069D4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1040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Result: shared-base impact is explicit, while application maintenance stays parallel and independent.</a:t>
            </a:r>
          </a:p>
        </p:txBody>
      </p:sp>
    </p:spTree>
    <p:extLst>
      <p:ext uri="{BB962C8B-B14F-4D97-AF65-F5344CB8AC3E}">
        <p14:creationId xmlns:p14="http://schemas.microsoft.com/office/powerpoint/2010/main" val="9534692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110297-F1AA-4D1B-956C-50D893B9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8C619-5FD7-488F-BF22-9F39FE8A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ASSURANCE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2F6F2-6CE3-4539-85B8-640AEA60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57F0B-4E10-4DA5-BEBE-00C727D6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20270-1380-4C1D-ACAA-F7F78A3A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and policy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E5D4F0-AD64-4C2B-9D99-F8F1DF19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Current gate: FCS is the vulnerability authority; SBOM, compliance, and tests also block.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2A89C-7B43-4ED8-B176-6911ADDC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28900"/>
            <a:ext cx="25146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8C05A2-FFC5-4F2D-8052-30A587E4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7655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8BDF8"/>
                </a:solidFill>
                <a:latin typeface="Arial"/>
                <a:ea typeface="Arial"/>
                <a:cs typeface="Arial"/>
              </a:rPr>
              <a:t>SUBJECT DIGEST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F9FAC-73C4-430D-8DA9-1B06C5CF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76600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sha256:…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5702A-45AD-44E4-9056-AE563226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2324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53920-A47E-4C22-8768-E914C446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Resource lock</a:t>
            </a:r>
          </a:p>
        </p:txBody>
      </p: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57500" y="2333625"/>
            <a:ext cx="198120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AA"/>
            </a:solidFill>
            <a:prstDash val="solid"/>
            <a:tailEnd type="arrow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E8743F-350E-4F82-A5E7-142997FE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2324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EF676-0881-4A81-8208-6956F8C3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SBOMs</a:t>
            </a:r>
          </a:p>
        </p:txBody>
      </p: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857500" y="3228975"/>
            <a:ext cx="198120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8D"/>
            </a:solidFill>
            <a:prstDash val="solid"/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95FA5E-28CC-4981-8F1D-8F5C887C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76800"/>
            <a:ext cx="2324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E11910-09A6-45C7-A041-16017B97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863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Provenance</a:t>
            </a:r>
          </a:p>
        </p:txBody>
      </p:sp>
      <p:cxnSp>
        <p:nvCxnSpPr>
          <p:cNvPr id="48" name=""/>
          <p:cNvCxnSpPr>
            <a:stCxn xmlns:a="http://schemas.openxmlformats.org/drawingml/2006/main" id="16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5010150" y="3829050"/>
            <a:ext cx="1085850" cy="1381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AA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B8278-1ED7-43FB-85AE-1202FDDD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76800"/>
            <a:ext cx="2324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6568EE-BA5D-49A7-AD30-8523F0EB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08635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FCS + OpenSCAP</a:t>
            </a:r>
          </a:p>
        </p:txBody>
      </p:sp>
      <p:cxnSp>
        <p:nvCxnSpPr>
          <p:cNvPr id="51" name=""/>
          <p:cNvCxnSpPr>
            <a:stCxn xmlns:a="http://schemas.openxmlformats.org/drawingml/2006/main" id="19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353300" y="3228975"/>
            <a:ext cx="381000" cy="1981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8D"/>
            </a:solidFill>
            <a:prstDash val="solid"/>
            <a:tailEnd type="arrow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02C66C-0E9C-4A40-A673-31AF9EEB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38550"/>
            <a:ext cx="2324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6CC8C4-6102-4E6C-90E0-538E8016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8481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Baseline product tests</a:t>
            </a:r>
          </a:p>
        </p:txBody>
      </p:sp>
      <p:cxnSp>
        <p:nvCxnSpPr>
          <p:cNvPr id="54" name=""/>
          <p:cNvCxnSpPr>
            <a:stCxn xmlns:a="http://schemas.openxmlformats.org/drawingml/2006/main" id="22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7353300" y="3228975"/>
            <a:ext cx="198120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69AA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6FA17D-8D54-4584-BE97-AA4D57A2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00250"/>
            <a:ext cx="23241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1F86D3-257A-459D-9AD3-C7ABF921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09800"/>
            <a:ext cx="2057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OPA decision</a:t>
            </a:r>
          </a:p>
        </p:txBody>
      </p:sp>
      <p:cxnSp>
        <p:nvCxnSpPr>
          <p:cNvPr id="57" name=""/>
          <p:cNvCxnSpPr>
            <a:stCxn xmlns:a="http://schemas.openxmlformats.org/drawingml/2006/main" id="25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7353300" y="2333625"/>
            <a:ext cx="1981200" cy="8953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77A00"/>
            </a:solidFill>
            <a:prstDash val="solid"/>
            <a:tailEnd type="arrow" w="sm" len="sm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4292AF-B9B7-4258-9CDE-699C4A18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638300"/>
            <a:ext cx="60198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3BF8D3-E1D6-45EE-9B57-B2658490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790700"/>
            <a:ext cx="567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5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DENY for invalid SBOM, compliance, tests, or FCS identity/report/SBOM/digest/policy 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013427-1734-46F4-8680-D6CA1950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829300"/>
            <a:ext cx="5791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Legacy scanners are informational. 72-hour freshness, signed exceptions, approval predicates, and completeness checks are roadmap controls.</a:t>
            </a:r>
          </a:p>
        </p:txBody>
      </p:sp>
    </p:spTree>
    <p:extLst>
      <p:ext uri="{BB962C8B-B14F-4D97-AF65-F5344CB8AC3E}">
        <p14:creationId xmlns:p14="http://schemas.microsoft.com/office/powerpoint/2010/main" val="11044656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DC4F80-0068-4609-BCCF-743B3A40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E3DCE-0A4F-43B9-A07E-6DD1C5DE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ASSURANCE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20D85-425F-4E84-A9D4-8CBB4EAC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8F997-ED61-4E81-8ACD-4164361E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CFBA7-1069-4728-B3CC-0237BF70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Protected signing and pull promotion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EC3C2-C386-4D54-9BDB-2AA1EF62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The build cannot publish; each destination verifies and pulls the exact approved digest.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5D4FC-7A31-4A89-B5F3-4803BF73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33600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C1B40-6D9F-48BC-B56C-93D426CB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QUARANTINE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533A0-E4B0-4207-BF11-B4DD91E9B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Passing candidate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+ evidence closure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812FBC-DC81-4FB2-8433-6E33392C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33600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64B63-BD5C-4202-8751-BB10DCB2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343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PROTECTED SIGNER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044D6-08E1-4E93-9C7E-845140C7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051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Cosign key pair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Artifactory referrers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479FF-8F16-44DB-AD87-2B32E199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33600"/>
            <a:ext cx="26670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2420E0-BDA9-4B21-A570-26135B75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4315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RELEASE BROKER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DB200B-BC39-40ED-BD47-900F3D62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05100"/>
            <a:ext cx="2209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Verify image signature,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copy referrers + digest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8099D-A751-4EDA-AD4B-B6F6D99D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133600"/>
            <a:ext cx="13716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A6D05E-67D9-49DA-B57E-FD7D963C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81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8BDF8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A5AF89-18A4-4D1E-AC91-2C77379A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724150"/>
            <a:ext cx="1104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pull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by digest</a:t>
            </a:r>
          </a:p>
        </p:txBody>
      </p:sp>
      <p:cxnSp>
        <p:nvCxnSpPr>
          <p:cNvPr id="51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0400" y="27527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6D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496050" y="2752725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6D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791700" y="275272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52606D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94764-F881-4EF6-8497-B824AB8F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COMMERCIAL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6B29B-1C29-489F-A242-A733CDCD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78C5E5-FB4D-46F8-ABD2-572642A9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24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Protected environment + 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4B68E-663B-452B-9C29-86A9A0E9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210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GOV1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1934A2-829F-4281-876A-967B68FA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339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7A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E70690-A271-421E-A964-189C9164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24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Local .us approval + local signing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A7990F-0C5E-4551-A646-2A129581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100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GOV2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C5848B-FADF-4E4D-9ABF-9DE19263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3390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7A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CF538D-4BD4-4AE2-8002-402B2C44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244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Local .us approval + local signing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63EF5B-A3A1-4784-A64F-E4A5FE06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2600"/>
            <a:ext cx="97536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C07F65-C2EE-4328-8E0D-DFED96F0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95950"/>
            <a:ext cx="937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Promotion copies the subject plus OCI referrer closure; it never rebuilds or changes the digest.</a:t>
            </a:r>
          </a:p>
        </p:txBody>
      </p:sp>
    </p:spTree>
    <p:extLst>
      <p:ext uri="{BB962C8B-B14F-4D97-AF65-F5344CB8AC3E}">
        <p14:creationId xmlns:p14="http://schemas.microsoft.com/office/powerpoint/2010/main" val="131914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C111CE-B00E-4346-93D6-CA23D0F0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88002B-73BF-4849-BC8C-D7172991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44617E-5F91-4493-98E3-F0108611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FE64D-B503-42EE-8DD5-B0265B08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37268-525E-43E0-89F6-0F4F0F81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AI-assisted remediation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DAB5D-3F1D-4443-BB63-0ADD4E97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AI reduces triage effort but never becomes a release authority.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1FAA3-3CF6-4DF8-BA52-D1D9652F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1816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90F8F-6142-478A-A20B-8A1BE160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886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864B"/>
                </a:solidFill>
                <a:latin typeface="Arial"/>
                <a:ea typeface="Arial"/>
                <a:cs typeface="Arial"/>
              </a:rPr>
              <a:t>AI MAY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CD2BEE-4399-4BF6-959B-B307909A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574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8864B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44287-0D1B-4DE6-9072-2AC7C071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Summarize signed findings and test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8EF92-EE6A-4531-B643-C32587B3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18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8864B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064AB6-9658-4745-A7DA-427008A9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Propose dependency, Dockerfile, or overlay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FEB67-30D1-4182-9ECA-5082C3CB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86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8864B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56FD04-F4A6-4348-ADEB-027F2280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Write only to a disposable overlay working tree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D23AA5-DAAB-436E-A629-3FB5EC84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00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8864B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C815E-2A25-4B59-881E-0AB61690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Produce a schema-constrained remediation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D84D5-13F2-4145-8AB8-DADC9AB6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8864B"/>
          </a:solidFill>
          <a:ln xmlns:a="http://schemas.openxmlformats.org/drawingml/2006/main" w="9525">
            <a:solidFill>
              <a:srgbClr val="1886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FA1F1-7CAA-4F4F-BCD6-B599E249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291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Label unverifiable guidance as blocked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B0520-57FC-49DD-9C4D-D218F58A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28800"/>
            <a:ext cx="57150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4AE99-5B2F-42C3-AD85-9917BA8B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521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AI MAY NOT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55F6B-72B3-458B-9ED9-E6D241E4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574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A54840-EF4F-4073-81C2-332D2C6F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Edit policy, VEX, or exception records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37F0B1-8B18-4010-85CE-A2468C3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718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F786DB-5E4B-434C-AAF9-39D8E61A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8610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Choose an unverified version or checksum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27F551-001F-4BEA-81FA-F751CA8B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861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339B7A-8722-4514-92E9-ABE76F0E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004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Push directly to protected Git branches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0406D-25C0-44E1-97C0-93DFA9BE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005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D77D26-BA0D-4753-9131-E929E23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1480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Approve or auto-merge its own proposal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7CC3F3-B0C9-4957-B2A9-BEAD3181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714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63C1BD-867F-4D4E-B774-8E4AD421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4819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Sign, import, publish, or promote an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6438B6-3716-44C2-9667-FAF2D549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2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Guarded flow: proposal → brokered merge request → clean rebuild → full gate → human merge decision</a:t>
            </a:r>
          </a:p>
        </p:txBody>
      </p:sp>
    </p:spTree>
    <p:extLst>
      <p:ext uri="{BB962C8B-B14F-4D97-AF65-F5344CB8AC3E}">
        <p14:creationId xmlns:p14="http://schemas.microsoft.com/office/powerpoint/2010/main" val="20545834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3BBCE5-58BB-42D3-B64E-529E2C87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4E1F6-5E6B-49C0-ADB5-D9933051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CFE0C-5BDB-4549-989E-A69F0F6C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ACB2B1-8342-46F9-BDD6-A9E29C0C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36085-BEB9-4BCA-8169-05767F6A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Ten implementation milestones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ED3A21-BF89-44E2-A4B6-97E53D93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Deliver testable capabilities in four phases; keep UBI 10 canary independent.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AF835-D100-4B2A-A157-5E3C3990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476500" cy="36385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B26DB-8C55-43E5-90F0-866BD9F9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193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50A29-2E04-49FD-891F-4FB5CA03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5E3A6-D236-4555-9D59-A5C1FB251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0E748A-CF8A-430D-959F-C1D2609C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Intake + locks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24784-A0A1-41AF-AFF0-CDC0053B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B74A8-04BE-4370-ADC0-5F4CCE32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861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Harden UBI 9.8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0E4AA-D008-4321-8175-34201790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09750"/>
            <a:ext cx="2476500" cy="36385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AE2BC9-A4A7-4090-B0E3-E04C61D9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PRODUCT 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DC73C4-6C18-4F7A-92DF-5AAEC98E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F8B8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AEE7D3-34FE-45B5-88F4-94A8BFC4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479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DF597-6D46-4843-99E9-534BCD7C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6479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Atlassian overlays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CB3137-854E-432D-8311-88CBAE93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861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CFF51-3272-4B6C-AE83-8A1B7FF6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861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Parallel builds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A65E2D-D802-4D7A-8353-3F748CA4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09750"/>
            <a:ext cx="2476500" cy="36385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4FB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83A5CC-3FEE-4B3D-A2CD-FA266856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193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ASSURANCE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C48325-2BDF-4CC6-A08D-7CE65650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9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6178E5-0434-4A3B-AFFB-C7ACDAC1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1AE432-01E1-41AF-A4CB-066D9B2D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479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FCS + SBOM +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A46A21-C7FF-472F-944C-5658E281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4861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45225-1D1B-42CF-AD6A-1A0F0BA6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861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Baseline tests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24AD98-E8FA-4BA4-837D-7586F56D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24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3C9E2A-3E2E-4CFD-968D-4BDED48F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24350"/>
            <a:ext cx="167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Sign + promote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6E01A4-3F4A-49B0-917A-B1452787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3238500" cy="36385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86325A-3225-48A6-9B67-4B589EF8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019300"/>
            <a:ext cx="289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GUARDED EVOLUTION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C1D3FB-331F-4865-9E3F-1D00122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00300"/>
            <a:ext cx="2895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7A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3A89EB-35DE-4EF9-A09A-E28FCB2D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479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F739A1-2A1B-412B-8682-0F485F8C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AI summaries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98B43D-AEEA-4BB3-9CA8-5F9C6F6F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861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1B3B13-AABD-4F14-BF51-3C9C7284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861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AI patch MRs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664485-4200-481B-AA9A-1E7C52D2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CB435A-9EF4-4484-A4B8-EFF2D959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243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UBI 10 canary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B1ADE1-B418-4BA6-BFB5-B5621618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34050"/>
            <a:ext cx="1112520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8A6BCB-7F53-4501-AB6E-FCF64806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74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milestone has an explicit artifact and exit condition; environment-specific endpoints and credentials are bound during deployment.</a:t>
            </a:r>
          </a:p>
        </p:txBody>
      </p:sp>
    </p:spTree>
    <p:extLst>
      <p:ext uri="{BB962C8B-B14F-4D97-AF65-F5344CB8AC3E}">
        <p14:creationId xmlns:p14="http://schemas.microsoft.com/office/powerpoint/2010/main" val="7136255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64C425-CB63-415B-A563-FF160D58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61FC7-9D39-4BA6-9110-323B70A3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1494F-8239-4703-A310-1A12E7EE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C7C64-E210-483D-B276-DB382B8F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03128-5300-4F23-8EA9-A35BE3AD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Bootstrap, first activation, and go-live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E01E9-BB7F-4888-9C38-B675F9B4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Prove the trust model before broadening production 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F1634B-9EC1-429A-AB1A-1D93398D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DAY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95D879-7B39-4D16-AD72-521FD3FC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Environment bootstrap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EA672-B711-4755-BDE9-BED9B102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769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61727-F141-491E-8B6B-C7126B01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FD1B18-9241-4E45-9002-554BCE6E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Create Artifactory repositories and writer separation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AAAF3-DF75-48E7-9233-D14C4E18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52E35-3A92-428F-ACB2-77A90C1CF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Build and sign offline runner toolchains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CDA338-4127-4EEF-B80C-B6A6C16B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E8143B-E1F3-4650-8437-607C2607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Configure Git protections, Artifactory OIDC/Cosign, FCS, ACLs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B0CD7-AB91-4C5B-8F85-1DCA1976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006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9525">
            <a:solidFill>
              <a:srgbClr val="1769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04F131-54F7-4193-92B5-53C900A5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Load immutable RPM and security-data snapshots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4BEDB-D692-43D3-9C7C-D8E5EBF1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47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DAY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8A969-749E-4880-B175-7DEA1381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90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First activation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F641DA-B07A-4CD8-BAB3-F80AB876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47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8B8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E31547-35D7-4BE7-84A7-28BD2E5C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003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F1B5CD-F95B-45C2-BF22-0D56C9BF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Verify signed lock and transfer artifacts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CD1F9-D742-4154-8FE5-7EFDFE25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67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90D86B-6B95-4C45-B42B-DC833F08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814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Build UBI 9.8 and stop at quarantine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7CE1C3-8775-440C-9165-ABAC82BA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33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B68CC6-BEA1-43ED-B260-54CF2E29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481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Fan out Bitbucket, Confluence, and Jira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2FBDD-4877-4877-BD6C-BA7DF3DD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006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7317FB-389D-432B-BE59-AB5A0F75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149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Run baseline tests; add licensed DB/cluster scenarios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F0AC12-4F20-4836-83F8-490D5003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47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C77A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77A00"/>
                </a:solidFill>
                <a:latin typeface="Arial"/>
                <a:ea typeface="Arial"/>
                <a:cs typeface="Arial"/>
              </a:rPr>
              <a:t>GO-LIVE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D02DC2-25C4-4A87-800C-A35BA698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Acceptance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8F4736-D41A-4A7B-B2A1-6D990594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4795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7A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C1B62F-1399-4F40-8AFA-339C12FE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03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7A00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5C9681-31CA-4B8E-8A9B-1C26D818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146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Zero public resolution from build runners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E4074A-D144-4201-B014-AA7B8AF3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671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7A00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D77DD8-44A8-4D87-A068-24912AAD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5814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Distinct build/import/sign/promote identities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90E45A-1156-4E38-867C-DBF70950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3387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7A00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AB8C27-1BB5-4A58-BE60-54E5ECE9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4815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Attestation completeness + signed approval implemented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A38885-7506-4D3B-A67D-DD2E1794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00625"/>
            <a:ext cx="66675" cy="66675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C77A00"/>
          </a:solidFill>
          <a:ln xmlns:a="http://schemas.openxmlformats.org/drawingml/2006/main" w="9525">
            <a:solidFill>
              <a:srgbClr val="C77A0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4E46B1-6FE1-40DB-82A3-FD84F931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14900"/>
            <a:ext cx="295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Gov local approvals; rollback documented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327D3E-E443-43CF-BAAE-AE748199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5727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BBB5C4-E64A-4C6E-84C1-70A38CC5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19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No evidence bypass for urgency: continuity changes response time, not release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1073142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6CD511-1F9A-4D8A-B70B-749D195C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C0D95-F10F-43E2-80BD-1FC21376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DAY 2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8C221-59FC-4C0E-8631-F53529F1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B1D98C-AA61-46E5-98C1-60B29A33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E7AB6B-0E32-496E-80FB-0751EB32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Day 2 operating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1CEF0D-8CA0-467F-852C-09D68AE1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Operate the factory as a continuously verified release service.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AFCAC-F3B6-406A-9435-FF07ADBD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95650"/>
            <a:ext cx="1962150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9E196-98B3-4F75-9286-16713DC2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861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5CB89-EE29-44A9-B573-016ACB3E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10000"/>
            <a:ext cx="1581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38BDF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38BDF8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04C2E-7BD3-4E04-9ECF-12E7FC1F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2381250" cy="89535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E5EEC-8205-41AD-BD93-A576C4AE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7DC725-4378-46BC-89BD-9CB4DA8E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health • freshness • findings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DEF27F-4A8D-4D30-97CE-36DBFEB3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19300"/>
            <a:ext cx="2381250" cy="89535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D33BF6-1652-4428-AB12-5E18ABEED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717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TRIAGE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71DB4-4DD6-48E1-979E-D287E49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9555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source • base • tool • policy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E4B5C3-F257-4B78-B9B1-1F0F7278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552950"/>
            <a:ext cx="2381250" cy="89535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27337-2CAE-48E3-993C-EE403211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05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REMEDIATE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40805-E8FF-4E15-90F3-4C76465E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292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pinned update • guarded MR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BD7707-0846-484E-A12E-4C638FE0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381250" cy="895350"/>
          </a:xfrm>
          <a:prstGeom xmlns:a="http://schemas.openxmlformats.org/drawingml/2006/main" prst="roundRect">
            <a:avLst>
              <a:gd name="adj" fmla="val 7447"/>
            </a:avLst>
          </a:prstGeom>
          <a:solidFill xmlns:a="http://schemas.openxmlformats.org/drawingml/2006/main">
            <a:srgbClr val="EAF8F7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FE335-B4F7-4122-8CE1-D62880CC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053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69129-4449-4012-A5CE-BEA13911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292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clean rebuild • scan • tests • gate</a:t>
            </a:r>
          </a:p>
        </p:txBody>
      </p:sp>
      <p:cxnSp>
        <p:nvCxnSpPr>
          <p:cNvPr id="65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19450" y="2466975"/>
            <a:ext cx="2228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  <a:tailEnd type="arrow" w="sm" len="sm"/>
          </a:ln>
        </p:spPr>
      </p:cxnSp>
      <p:cxnSp>
        <p:nvCxnSpPr>
          <p:cNvPr id="66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638925" y="2914650"/>
            <a:ext cx="0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16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3219450" y="5000625"/>
            <a:ext cx="2228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9" idx="0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2028825" y="2914650"/>
            <a:ext cx="0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8B8D"/>
            </a:solidFill>
            <a:prstDash val="solid"/>
            <a:tailEnd type="arrow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D7BEA-C355-43F6-9BFB-46457D56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478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OPERATING CADENCE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A0E74-C696-48CA-B77A-80782960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860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Per pipeline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14C942-9E4B-49F5-A229-825EF97E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860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locks • evidence • signatures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FF9D6B-EFB8-4110-AA69-1ED9B20F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241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736F22-49D3-4CCD-802D-4AE06B63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146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Daily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7EE718-A8FF-4FF7-9965-0CCE0E33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146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failures • freshness • capacity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3B65B7-1302-4D0D-BC01-F38673D5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5280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568DA6-99E1-41C0-A8F5-D26D19D2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433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Weekly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54F58D-E534-402C-AF96-42261B13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5433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FCS policy • CVE evidence • roadmap exceptions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ED4AF7-67D9-4406-ABAE-443A6DFC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EC2B0B-9358-4108-8EA7-666D3219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719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Monthly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0F7BF5-4C85-4ABB-8F16-2D4E9365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restore test • rollback drill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4C6EF3-EE98-403B-9267-F8F63CCE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1010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2B8F09-88CB-46E5-95F4-83EBA3CC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006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Quarterly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EAFEC3-2D5C-40AA-AA14-24E5B630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0060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key rotation • policy review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587144-64EF-45FC-9308-0652066A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238750"/>
            <a:ext cx="2914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95469A-A9F0-4768-8C75-E704D6E4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600700"/>
            <a:ext cx="29146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E69158-E134-41E8-A6A4-35EA4549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724525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B42318"/>
                </a:solidFill>
                <a:latin typeface="Arial"/>
                <a:ea typeface="Arial"/>
                <a:cs typeface="Arial"/>
              </a:rPr>
              <a:t>P1: freeze promotion for integrity risk</a:t>
            </a:r>
          </a:p>
        </p:txBody>
      </p:sp>
    </p:spTree>
    <p:extLst>
      <p:ext uri="{BB962C8B-B14F-4D97-AF65-F5344CB8AC3E}">
        <p14:creationId xmlns:p14="http://schemas.microsoft.com/office/powerpoint/2010/main" val="6483334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D1356F-38C2-429E-808B-4A727976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IMAGE HARDENING FACTORY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4ABAD-743C-408E-B827-AE671AF6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NEXT 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92BA0-CB9D-49E4-9C29-9BEF8B9E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3C1F5-1C15-43EC-BFB2-61FA0564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88A4D-E0C9-432B-9CC9-4081D9C0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7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4B37A-C4A5-405D-B97C-FB7D16D4F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A deployable, supportable release factory with measurable trust properties.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FC3E9-5295-4F3F-BB46-CDD45056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5264F-4848-4DB6-A27E-76D961FA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14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required evidence predicates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B5C5B-70E2-4E18-AB9B-0D0C765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9D81D-FF1C-4A08-9E34-78DF3B8D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514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public connections from offline runners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045A7-1585-4B24-A98E-4AC35650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EA3E3-4317-40B4-8659-15570A0B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unauthorized release writes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0E136-69B2-48E1-B0E4-DB36F574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050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31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100%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DA8B4E-6482-4C27-B7F2-8FC679BC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52606D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06D"/>
                </a:solidFill>
                <a:latin typeface="Arial"/>
                <a:ea typeface="Arial"/>
                <a:cs typeface="Arial"/>
              </a:rPr>
              <a:t>source digest = target digest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A2030-9F60-4E05-A676-EDF8CF93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575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A3EDE4-0424-4EE6-B4EE-033CDA47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BEBD05-FB54-4D75-B626-DEB8E095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B03907-F298-46B5-B600-73FD1E8B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Bind endpoints, certificates, protected groups, Artifactory identities, Cosign keys, and FCS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58211-8900-4CF4-9B96-DA5D3D2A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6247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E7D50A-20C9-4D61-9C6A-53AE2DB3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Implement approval/completeness/freshness controls and licensed Atlassian integration suites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96A80-964F-4CD1-BCF5-0767375B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73517-2F67-4BF3-A0F5-CD64AC0B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292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Execute Day 0 / Day 1 rehearsal, controlled promotion, and rollback drill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25FE4-13C9-480F-A811-F6E3D341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95925"/>
            <a:ext cx="30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0F8B8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F8B8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C6418C-030B-4D52-A03F-E3517085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95925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Publish the Confluence guide, assign owners, and start the Day 2 cadence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81583-CD50-4DD1-92D4-383A6DD6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5071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2026-08-14T14:15:28.6980000Z</dcterms:created>
  <dcterms:modified xsi:type="dcterms:W3CDTF">2026-08-14T14:15:28.6980000Z</dcterms:modified>
</coreProperties>
</file>